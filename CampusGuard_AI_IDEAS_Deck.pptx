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CampusGuard AI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SIH2026_PS_4609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AI-Based Real-Time Campus Security &amp; Surveillance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[Enter your Team ID]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[Enter your Team Name as registered on portal]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7" y="-70697"/>
            <a:ext cx="11162335" cy="1357629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</a:t>
            </a: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CampusGuard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AI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84239" y="595864"/>
            <a:ext cx="12191999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                              Proposed Solution 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 real-time, privacy-first computer vision pipeline that acts as an automated digital watchman — running 100% on local edge hardware simultaneously detecting fights, falls and unattended bags, with live alerts on a security dashboard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Replaces manual monitoring of dozens of CCTV feeds — eliminates blind spots, cuts emergency response delays for fights/falls, and flags unattended bags automatically, without ever sending video to the cloud (fully compliant with student data-privacy laws)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Automatically identifies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anomilies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in the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surrounding,and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flags them for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concerened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people to be notified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963908"/>
            <a:ext cx="10710333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itchFamily="34" charset="0"/>
                <a:cs typeface="Arial" pitchFamily="34" charset="0"/>
              </a:rPr>
              <a:t>Vision:Computer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Vision model integrated into traditional CCTVs to make them smart and help improving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survilience,security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and safety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Intelligence: velocity, acceleration &amp; torso-tilt computed over a 0.6s rolling window (mean/std/max) — sustained-threshold alerts, model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indentifying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relative speed and body position of  each person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wrt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to other people present so as to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categotise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them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normal,fight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or emergency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Tested on various models and the one with highest benchmark was optimized and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choosed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000" name="FlowBox 0"/>
          <p:cNvSpPr/>
          <p:nvPr/>
        </p:nvSpPr>
        <p:spPr>
          <a:xfrm>
            <a:off x="457200" y="5364739"/>
            <a:ext cx="1900000" cy="95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 w="12700">
            <a:noFill/>
          </a:ln>
          <a:effectLst>
            <a:outerShdw dist="20000" dir="5400000" rotWithShape="0">
              <a:srgbClr val="808080">
                <a:alpha val="30000"/>
              </a:srgbClr>
            </a:outerShdw>
          </a:effectLst>
        </p:spPr>
        <p:txBody>
          <a:bodyPr lIns="45720" tIns="27432" rIns="45720" bIns="27432" anchor="ctr">
            <a:norm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Camera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Feed</a:t>
            </a:r>
          </a:p>
        </p:txBody>
      </p:sp>
      <p:sp>
        <p:nvSpPr>
          <p:cNvPr id="2366700" name="FlowArrow 2357200"/>
          <p:cNvSpPr/>
          <p:nvPr/>
        </p:nvSpPr>
        <p:spPr>
          <a:xfrm>
            <a:off x="2357200" y="5764559"/>
            <a:ext cx="444400" cy="16000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1" name="FlowBox 1"/>
          <p:cNvSpPr/>
          <p:nvPr/>
        </p:nvSpPr>
        <p:spPr>
          <a:xfrm>
            <a:off x="2801600" y="5364739"/>
            <a:ext cx="1900000" cy="95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 w="12700">
            <a:noFill/>
          </a:ln>
          <a:effectLst>
            <a:outerShdw dist="20000" dir="5400000" rotWithShape="0">
              <a:srgbClr val="808080">
                <a:alpha val="30000"/>
              </a:srgbClr>
            </a:outerShdw>
          </a:effectLst>
        </p:spPr>
        <p:txBody>
          <a:bodyPr lIns="45720" tIns="27432" rIns="45720" bIns="27432" anchor="ctr">
            <a:norm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Pose + Object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Detection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(MediaPipe /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YOLOv8n)</a:t>
            </a:r>
          </a:p>
        </p:txBody>
      </p:sp>
      <p:sp>
        <p:nvSpPr>
          <p:cNvPr id="4711100" name="FlowArrow 4701600"/>
          <p:cNvSpPr/>
          <p:nvPr/>
        </p:nvSpPr>
        <p:spPr>
          <a:xfrm>
            <a:off x="4714733" y="5839739"/>
            <a:ext cx="444400" cy="16000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FlowBox 2"/>
          <p:cNvSpPr/>
          <p:nvPr/>
        </p:nvSpPr>
        <p:spPr>
          <a:xfrm>
            <a:off x="5146000" y="5364739"/>
            <a:ext cx="1900000" cy="95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 w="12700">
            <a:noFill/>
          </a:ln>
          <a:effectLst>
            <a:outerShdw dist="20000" dir="5400000" rotWithShape="0">
              <a:srgbClr val="808080">
                <a:alpha val="30000"/>
              </a:srgbClr>
            </a:outerShdw>
          </a:effectLst>
        </p:spPr>
        <p:txBody>
          <a:bodyPr lIns="45720" tIns="27432" rIns="45720" bIns="27432" anchor="ctr">
            <a:norm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0.6s Kinematic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Window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(velocity / accel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/ tilt)</a:t>
            </a:r>
          </a:p>
        </p:txBody>
      </p:sp>
      <p:sp>
        <p:nvSpPr>
          <p:cNvPr id="7055500" name="FlowArrow 7046000"/>
          <p:cNvSpPr/>
          <p:nvPr/>
        </p:nvSpPr>
        <p:spPr>
          <a:xfrm>
            <a:off x="7046000" y="5919739"/>
            <a:ext cx="444400" cy="16000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FlowBox 3"/>
          <p:cNvSpPr/>
          <p:nvPr/>
        </p:nvSpPr>
        <p:spPr>
          <a:xfrm>
            <a:off x="7490400" y="5364739"/>
            <a:ext cx="1900000" cy="95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 w="12700">
            <a:noFill/>
          </a:ln>
          <a:effectLst>
            <a:outerShdw dist="20000" dir="5400000" rotWithShape="0">
              <a:srgbClr val="808080">
                <a:alpha val="30000"/>
              </a:srgbClr>
            </a:outerShdw>
          </a:effectLst>
        </p:spPr>
        <p:txBody>
          <a:bodyPr lIns="45720" tIns="27432" rIns="45720" bIns="27432" anchor="ctr">
            <a:norm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Random Forest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Classifier</a:t>
            </a:r>
          </a:p>
        </p:txBody>
      </p:sp>
      <p:sp>
        <p:nvSpPr>
          <p:cNvPr id="9399900" name="FlowArrow 9390400"/>
          <p:cNvSpPr/>
          <p:nvPr/>
        </p:nvSpPr>
        <p:spPr>
          <a:xfrm>
            <a:off x="9390400" y="5839739"/>
            <a:ext cx="444400" cy="16000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4" name="FlowBox 4"/>
          <p:cNvSpPr/>
          <p:nvPr/>
        </p:nvSpPr>
        <p:spPr>
          <a:xfrm>
            <a:off x="9834800" y="5364739"/>
            <a:ext cx="1900000" cy="95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 w="12700">
            <a:noFill/>
          </a:ln>
          <a:effectLst>
            <a:outerShdw dist="20000" dir="5400000" rotWithShape="0">
              <a:srgbClr val="808080">
                <a:alpha val="30000"/>
              </a:srgbClr>
            </a:outerShdw>
          </a:effectLst>
        </p:spPr>
        <p:txBody>
          <a:bodyPr lIns="45720" tIns="27432" rIns="45720" bIns="27432" anchor="ctr">
            <a:norm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Live Alert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857639"/>
            <a:ext cx="93853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Optimized to run on a consumer-grade local CCTVs using a 2-frame skip protocol for an effective 5 FPS — sufficient for the 0.6s kinematic window to reliably catch violent action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0"/>
            <a:r>
              <a:rPr lang="en-IN" sz="2800" dirty="0"/>
              <a:t>Deployment-ready: slots into existing CCTV — no new cameras</a:t>
            </a:r>
          </a:p>
          <a:p>
            <a:pPr lvl="0"/>
            <a:r>
              <a:rPr lang="en-IN" sz="2800" dirty="0"/>
              <a:t> zero recurring cloud cost</a:t>
            </a:r>
          </a:p>
          <a:p>
            <a:pPr lvl="0"/>
            <a:r>
              <a:rPr lang="en-IN" sz="2800" dirty="0"/>
              <a:t>Built entirely on proven, mature components (</a:t>
            </a:r>
            <a:r>
              <a:rPr lang="en-IN" sz="2800" dirty="0" err="1"/>
              <a:t>MediaPipe</a:t>
            </a:r>
            <a:r>
              <a:rPr lang="en-IN" sz="2800" dirty="0"/>
              <a:t>, YOLOv8, scikit-learn) — not experimental tech</a:t>
            </a:r>
          </a:p>
          <a:p>
            <a:pPr lvl="0"/>
            <a:r>
              <a:rPr lang="en-IN" sz="2800" dirty="0"/>
              <a:t>Already working end-to-end: 83% fight recall / 85% fall recall on real datasets — a live prototype ready to pilot on one camera feed and scale campus-wide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701" name="StatCard 1"/>
          <p:cNvSpPr/>
          <p:nvPr/>
        </p:nvSpPr>
        <p:spPr>
          <a:xfrm>
            <a:off x="923526" y="5998860"/>
            <a:ext cx="2183200" cy="85764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noFill/>
          </a:ln>
          <a:effectLst>
            <a:outerShdw dist="20000" dir="5400000" rotWithShape="0">
              <a:srgbClr val="808080">
                <a:alpha val="25000"/>
              </a:srgbClr>
            </a:outerShdw>
          </a:effectLst>
        </p:spPr>
        <p:txBody>
          <a:bodyPr lIns="45720" tIns="82296" rIns="45720" bIns="45720" anchor="ctr">
            <a:normAutofit fontScale="92500" lnSpcReduction="10000"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5 FPS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Effective rate via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2-frame skip protocol</a:t>
            </a:r>
          </a:p>
        </p:txBody>
      </p:sp>
      <p:sp>
        <p:nvSpPr>
          <p:cNvPr id="9702" name="StatCard 2"/>
          <p:cNvSpPr/>
          <p:nvPr/>
        </p:nvSpPr>
        <p:spPr>
          <a:xfrm>
            <a:off x="4343400" y="5998860"/>
            <a:ext cx="2067667" cy="85764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noFill/>
          </a:ln>
          <a:effectLst>
            <a:outerShdw dist="20000" dir="5400000" rotWithShape="0">
              <a:srgbClr val="808080">
                <a:alpha val="25000"/>
              </a:srgbClr>
            </a:outerShdw>
          </a:effectLst>
        </p:spPr>
        <p:txBody>
          <a:bodyPr lIns="45720" tIns="82296" rIns="45720" bIns="45720" anchor="ctr">
            <a:normAutofit lnSpcReduction="10000"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83%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Recall — Fight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Detection (F1: 0.739)</a:t>
            </a:r>
          </a:p>
        </p:txBody>
      </p:sp>
      <p:sp>
        <p:nvSpPr>
          <p:cNvPr id="9703" name="StatCard 3"/>
          <p:cNvSpPr/>
          <p:nvPr/>
        </p:nvSpPr>
        <p:spPr>
          <a:xfrm>
            <a:off x="7364947" y="6001860"/>
            <a:ext cx="2249851" cy="85614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noFill/>
          </a:ln>
          <a:effectLst>
            <a:outerShdw dist="20000" dir="5400000" rotWithShape="0">
              <a:srgbClr val="808080">
                <a:alpha val="25000"/>
              </a:srgbClr>
            </a:outerShdw>
          </a:effectLst>
        </p:spPr>
        <p:txBody>
          <a:bodyPr lIns="45720" tIns="82296" rIns="45720" bIns="45720" anchor="ctr">
            <a:normAutofit lnSpcReduction="10000"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85%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Recall — Fall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Detection (F1: 0.685)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80534" y="868586"/>
            <a:ext cx="93853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Direct impact for students, faculty and security teams across every camera-covered campus zone — turning passive CCTV footage into an active, always-on safety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 single dashboard delivers instant alerts, deduplicated logs and real-time telemetry — cutting emergency response time while running entirely on affordable, on-premise hardware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Can be scaled for outside </a:t>
            </a:r>
            <a:r>
              <a:rPr lang="en-US" sz="28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steets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with complex dynamics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800" name="BenefitCard 0"/>
          <p:cNvSpPr/>
          <p:nvPr/>
        </p:nvSpPr>
        <p:spPr>
          <a:xfrm>
            <a:off x="457600" y="4537067"/>
            <a:ext cx="3491600" cy="17000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9525">
            <a:noFill/>
          </a:ln>
          <a:effectLst>
            <a:outerShdw dist="20000" dir="5400000" rotWithShape="0">
              <a:srgbClr val="808080">
                <a:alpha val="25000"/>
              </a:srgbClr>
            </a:outerShdw>
          </a:effectLst>
        </p:spPr>
        <p:txBody>
          <a:bodyPr lIns="137160" tIns="118872" rIns="137160" bIns="91440" anchor="t">
            <a:normAutofit/>
          </a:bodyPr>
          <a:lstStyle/>
          <a:p>
            <a:pPr algn="l"/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SOCIAL</a:t>
            </a:r>
          </a:p>
          <a:p>
            <a:pPr algn="l">
              <a:spcBef>
                <a:spcPts val="600"/>
              </a:spcBef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Faster emergency response to fights &amp; falls; eliminates CCTV blind spots across campus</a:t>
            </a:r>
          </a:p>
        </p:txBody>
      </p:sp>
      <p:sp>
        <p:nvSpPr>
          <p:cNvPr id="9801" name="BenefitCard 1"/>
          <p:cNvSpPr/>
          <p:nvPr/>
        </p:nvSpPr>
        <p:spPr>
          <a:xfrm>
            <a:off x="4350000" y="4518240"/>
            <a:ext cx="3491600" cy="17000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9525">
            <a:noFill/>
          </a:ln>
          <a:effectLst>
            <a:outerShdw dist="20000" dir="5400000" rotWithShape="0">
              <a:srgbClr val="808080">
                <a:alpha val="25000"/>
              </a:srgbClr>
            </a:outerShdw>
          </a:effectLst>
        </p:spPr>
        <p:txBody>
          <a:bodyPr lIns="137160" tIns="118872" rIns="137160" bIns="91440" anchor="t">
            <a:normAutofit/>
          </a:bodyPr>
          <a:lstStyle/>
          <a:p>
            <a:pPr algn="l"/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ECONOMIC</a:t>
            </a:r>
          </a:p>
          <a:p>
            <a:pPr algn="l">
              <a:spcBef>
                <a:spcPts val="600"/>
              </a:spcBef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Scalable alternative to costly round-the-clock human monitoring of large camera networks</a:t>
            </a:r>
          </a:p>
        </p:txBody>
      </p:sp>
      <p:sp>
        <p:nvSpPr>
          <p:cNvPr id="9802" name="BenefitCard 2"/>
          <p:cNvSpPr/>
          <p:nvPr/>
        </p:nvSpPr>
        <p:spPr>
          <a:xfrm>
            <a:off x="8242800" y="4518240"/>
            <a:ext cx="3491600" cy="17000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9525">
            <a:noFill/>
          </a:ln>
          <a:effectLst>
            <a:outerShdw dist="20000" dir="5400000" rotWithShape="0">
              <a:srgbClr val="808080">
                <a:alpha val="25000"/>
              </a:srgbClr>
            </a:outerShdw>
          </a:effectLst>
        </p:spPr>
        <p:txBody>
          <a:bodyPr lIns="137160" tIns="118872" rIns="137160" bIns="91440" anchor="t">
            <a:normAutofit/>
          </a:bodyPr>
          <a:lstStyle/>
          <a:p>
            <a:pPr algn="l"/>
            <a:r>
              <a:rPr lang="en-US" sz="1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PRIVACY</a:t>
            </a:r>
          </a:p>
          <a:p>
            <a:pPr algn="l">
              <a:spcBef>
                <a:spcPts val="600"/>
              </a:spcBef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Zero-leakage local processing — no video ever leaves campus, ensuring full data-law compliance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03349" y="466572"/>
            <a:ext cx="93853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i="1" dirty="0"/>
              <a:t>Datasets</a:t>
            </a:r>
            <a:endParaRPr lang="en-IN" sz="2800" dirty="0"/>
          </a:p>
          <a:p>
            <a:pPr lvl="0"/>
            <a:r>
              <a:rPr lang="en-IN" sz="2800" dirty="0"/>
              <a:t>Cheng, Cai &amp; Li — </a:t>
            </a:r>
            <a:r>
              <a:rPr lang="en-IN" sz="2800" i="1" dirty="0"/>
              <a:t>RWF-2000: An Open Large-Scale Video Database for Violence Detection</a:t>
            </a:r>
            <a:r>
              <a:rPr lang="en-IN" sz="2800" dirty="0"/>
              <a:t>, ICPR 2020</a:t>
            </a:r>
          </a:p>
          <a:p>
            <a:pPr lvl="0"/>
            <a:r>
              <a:rPr lang="en-IN" sz="2800" dirty="0"/>
              <a:t>Kwolek &amp; </a:t>
            </a:r>
            <a:r>
              <a:rPr lang="en-IN" sz="2800" dirty="0" err="1"/>
              <a:t>Kepski</a:t>
            </a:r>
            <a:r>
              <a:rPr lang="en-IN" sz="2800" dirty="0"/>
              <a:t> — </a:t>
            </a:r>
            <a:r>
              <a:rPr lang="en-IN" sz="2800" i="1" dirty="0"/>
              <a:t>Human Fall Detection on Embedded Platform Using Depth Maps and Wireless Accelerometer</a:t>
            </a:r>
            <a:r>
              <a:rPr lang="en-IN" sz="2800" dirty="0"/>
              <a:t>, Computer Methods &amp; Programs in Biomedicine, 2014</a:t>
            </a:r>
          </a:p>
          <a:p>
            <a:pPr lvl="0"/>
            <a:r>
              <a:rPr lang="en-IN" sz="2800" dirty="0"/>
              <a:t>Eraso Guerrero et al. — </a:t>
            </a:r>
            <a:r>
              <a:rPr lang="en-IN" sz="2800" i="1" dirty="0" err="1"/>
              <a:t>CAUCAFall</a:t>
            </a:r>
            <a:r>
              <a:rPr lang="en-IN" sz="2800" i="1" dirty="0"/>
              <a:t>: Dataset for Human Fall Recognition in an Uncontrolled Environment</a:t>
            </a:r>
            <a:r>
              <a:rPr lang="en-IN" sz="2800" dirty="0"/>
              <a:t>, Data in Brief, 2022</a:t>
            </a:r>
          </a:p>
          <a:p>
            <a:r>
              <a:rPr lang="en-IN" sz="2800" i="1" dirty="0"/>
              <a:t>Models &amp; Frameworks</a:t>
            </a:r>
            <a:endParaRPr lang="en-IN" sz="2800" dirty="0"/>
          </a:p>
          <a:p>
            <a:pPr lvl="0"/>
            <a:r>
              <a:rPr lang="en-IN" sz="2800" dirty="0" err="1"/>
              <a:t>Bazarevsky</a:t>
            </a:r>
            <a:r>
              <a:rPr lang="en-IN" sz="2800" dirty="0"/>
              <a:t> et al. — </a:t>
            </a:r>
            <a:r>
              <a:rPr lang="en-IN" sz="2800" i="1" dirty="0" err="1"/>
              <a:t>BlazePose</a:t>
            </a:r>
            <a:r>
              <a:rPr lang="en-IN" sz="2800" i="1" dirty="0"/>
              <a:t>: On-device Real-time Body Pose Tracking</a:t>
            </a:r>
            <a:r>
              <a:rPr lang="en-IN" sz="2800" dirty="0"/>
              <a:t> (</a:t>
            </a:r>
            <a:r>
              <a:rPr lang="en-IN" sz="2800" dirty="0" err="1"/>
              <a:t>MediaPipe</a:t>
            </a:r>
            <a:r>
              <a:rPr lang="en-IN" sz="2800" dirty="0"/>
              <a:t> Pose </a:t>
            </a:r>
            <a:r>
              <a:rPr lang="en-IN" sz="2800" dirty="0" err="1"/>
              <a:t>Landmarker</a:t>
            </a:r>
            <a:r>
              <a:rPr lang="en-IN" sz="2800" dirty="0"/>
              <a:t>), Google Research, 2020</a:t>
            </a:r>
          </a:p>
          <a:p>
            <a:pPr lvl="0"/>
            <a:r>
              <a:rPr lang="en-IN" sz="2800" dirty="0" err="1"/>
              <a:t>Jocher</a:t>
            </a:r>
            <a:r>
              <a:rPr lang="en-IN" sz="2800" dirty="0"/>
              <a:t>, Chaurasia &amp; Qiu — </a:t>
            </a:r>
            <a:r>
              <a:rPr lang="en-IN" sz="2800" i="1" dirty="0" err="1"/>
              <a:t>Ultralytics</a:t>
            </a:r>
            <a:r>
              <a:rPr lang="en-IN" sz="2800" i="1" dirty="0"/>
              <a:t> YOLOv8</a:t>
            </a:r>
            <a:r>
              <a:rPr lang="en-IN" sz="2800" dirty="0"/>
              <a:t>, 2023</a:t>
            </a:r>
          </a:p>
          <a:p>
            <a:pPr lvl="0"/>
            <a:r>
              <a:rPr lang="en-IN" sz="2800" dirty="0"/>
              <a:t>Pedregosa et al. — </a:t>
            </a:r>
            <a:r>
              <a:rPr lang="en-IN" sz="2800" i="1" dirty="0"/>
              <a:t>Scikit-learn: Machine Learning in Python</a:t>
            </a:r>
            <a:endParaRPr lang="en-IN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4559" y="1290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700" name="StatCard 0"/>
          <p:cNvSpPr/>
          <p:nvPr/>
        </p:nvSpPr>
        <p:spPr>
          <a:xfrm>
            <a:off x="1061401" y="5985932"/>
            <a:ext cx="2594400" cy="872068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noFill/>
          </a:ln>
          <a:effectLst>
            <a:outerShdw dist="20000" dir="5400000" rotWithShape="0">
              <a:srgbClr val="808080">
                <a:alpha val="25000"/>
              </a:srgbClr>
            </a:outerShdw>
          </a:effectLst>
        </p:spPr>
        <p:txBody>
          <a:bodyPr lIns="45720" tIns="82296" rIns="45720" bIns="45720" anchor="ctr">
            <a:normAutofit fontScale="92500" lnSpcReduction="20000"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Datasets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RWF-2000 — 1,153 real-world fight clips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UR Fall Dataset — RGB-D fall videos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CAUCAFall — multimodal fall kinematics</a:t>
            </a:r>
          </a:p>
        </p:txBody>
      </p:sp>
      <p:sp>
        <p:nvSpPr>
          <p:cNvPr id="9701" name="StatCard 1"/>
          <p:cNvSpPr/>
          <p:nvPr/>
        </p:nvSpPr>
        <p:spPr>
          <a:xfrm>
            <a:off x="4675026" y="5985932"/>
            <a:ext cx="2594400" cy="872067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noFill/>
          </a:ln>
          <a:effectLst>
            <a:outerShdw dist="20000" dir="5400000" rotWithShape="0">
              <a:srgbClr val="808080">
                <a:alpha val="25000"/>
              </a:srgbClr>
            </a:outerShdw>
          </a:effectLst>
        </p:spPr>
        <p:txBody>
          <a:bodyPr lIns="45720" tIns="82296" rIns="45720" bIns="45720" anchor="ctr">
            <a:normAutofit fontScale="92500" lnSpcReduction="20000"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Models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Google MediaPipe PoseLandmarker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Ultralytics YOLOv8n (COCO classes)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Scikit-Learn Random Forest</a:t>
            </a:r>
          </a:p>
        </p:txBody>
      </p:sp>
      <p:sp>
        <p:nvSpPr>
          <p:cNvPr id="9702" name="StatCard 2"/>
          <p:cNvSpPr/>
          <p:nvPr/>
        </p:nvSpPr>
        <p:spPr>
          <a:xfrm>
            <a:off x="8310611" y="5984432"/>
            <a:ext cx="2594400" cy="872068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 w="9525">
            <a:noFill/>
          </a:ln>
          <a:effectLst>
            <a:outerShdw dist="20000" dir="5400000" rotWithShape="0">
              <a:srgbClr val="808080">
                <a:alpha val="25000"/>
              </a:srgbClr>
            </a:outerShdw>
          </a:effectLst>
        </p:spPr>
        <p:txBody>
          <a:bodyPr lIns="45720" tIns="82296" rIns="45720" bIns="45720" anchor="ctr">
            <a:normAutofit fontScale="85000" lnSpcReduction="10000"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Method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0.6s rolling-window kinematics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Train/serve parity (batch_extractor == app.py)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GroupShuffleSplit @ video level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7814</TotalTime>
  <Words>717</Words>
  <Application>Microsoft Office PowerPoint</Application>
  <PresentationFormat>Widescreen</PresentationFormat>
  <Paragraphs>101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TradeGothic</vt:lpstr>
      <vt:lpstr>Arial</vt:lpstr>
      <vt:lpstr>Calibri</vt:lpstr>
      <vt:lpstr>Garamond</vt:lpstr>
      <vt:lpstr>Times New Roman</vt:lpstr>
      <vt:lpstr>Wingdings</vt:lpstr>
      <vt:lpstr>Office Theme</vt:lpstr>
      <vt:lpstr>SMART INDIA HACKATHON 2026</vt:lpstr>
      <vt:lpstr>   CampusGuard AI 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patra.sohan27@outlook.com</cp:lastModifiedBy>
  <cp:revision>150</cp:revision>
  <dcterms:created xsi:type="dcterms:W3CDTF">2013-12-12T18:46:50Z</dcterms:created>
  <dcterms:modified xsi:type="dcterms:W3CDTF">2026-08-27T10:10:26Z</dcterms:modified>
  <cp:category/>
</cp:coreProperties>
</file>